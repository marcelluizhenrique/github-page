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2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2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33B479-B86F-4B3B-92CC-A65D21022A71}" type="datetime1">
              <a:rPr lang="pt-BR" smtClean="0"/>
              <a:t>10/05/2026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D53290-F0ED-46B1-B74B-2F3871D103E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114772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89ABE-C638-43EB-8FF2-1C40E4E3A55D}" type="datetime1">
              <a:rPr lang="pt-BR" smtClean="0"/>
              <a:pPr/>
              <a:t>10/05/2026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 dirty="0"/>
              <a:t>Editar estilos de texto Mestre</a:t>
            </a:r>
          </a:p>
          <a:p>
            <a:pPr lvl="1"/>
            <a:r>
              <a:rPr lang="pt-BR" noProof="0" dirty="0"/>
              <a:t>Segundo nível</a:t>
            </a:r>
          </a:p>
          <a:p>
            <a:pPr lvl="2"/>
            <a:r>
              <a:rPr lang="pt-BR" noProof="0" dirty="0"/>
              <a:t>Terceiro nível</a:t>
            </a:r>
          </a:p>
          <a:p>
            <a:pPr lvl="3"/>
            <a:r>
              <a:rPr lang="pt-BR" noProof="0" dirty="0"/>
              <a:t>Quarto nível</a:t>
            </a:r>
          </a:p>
          <a:p>
            <a:pPr lvl="4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B69BF2-40CB-4D1C-9AF8-B52A60A65A50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084546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69BF2-40CB-4D1C-9AF8-B52A60A65A50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9656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69BF2-40CB-4D1C-9AF8-B52A60A65A50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6381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69BF2-40CB-4D1C-9AF8-B52A60A65A50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4848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69BF2-40CB-4D1C-9AF8-B52A60A65A50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3172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69BF2-40CB-4D1C-9AF8-B52A60A65A50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3894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rtlCol="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CA70E9B-807F-4AE6-92CC-96282D5E7311}" type="datetime1">
              <a:rPr lang="pt-BR" noProof="0" smtClean="0"/>
              <a:t>10/05/2026</a:t>
            </a:fld>
            <a:endParaRPr lang="pt-BR" noProof="0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8270778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7C79FE1-4EE1-4F09-AF1C-ADB867A4DDB7}" type="datetime1">
              <a:rPr lang="pt-BR" noProof="0" smtClean="0"/>
              <a:t>10/05/2026</a:t>
            </a:fld>
            <a:endParaRPr lang="pt-BR" noProof="0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182275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rtlCol="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rtlCol="0"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132E7D4-C3C8-491E-AF18-B3F00DDC0614}" type="datetime1">
              <a:rPr lang="pt-BR" noProof="0" smtClean="0"/>
              <a:t>10/05/2026</a:t>
            </a:fld>
            <a:endParaRPr lang="pt-BR" noProof="0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828561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B6D9EE8-2544-4943-81D3-517B336FA10A}" type="datetime1">
              <a:rPr lang="pt-BR" noProof="0" smtClean="0"/>
              <a:t>10/05/2026</a:t>
            </a:fld>
            <a:endParaRPr lang="pt-BR" noProof="0" dirty="0"/>
          </a:p>
        </p:txBody>
      </p:sp>
      <p:sp>
        <p:nvSpPr>
          <p:cNvPr id="9" name="Espaço Reservado para Rodapé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10" name="Espaço reservado para o número do slide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366587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rtlCol="0"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 rtlCol="0"/>
          <a:lstStyle>
            <a:lvl5pPr>
              <a:defRPr/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11" name="Espaço Reservado para Texto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rtlCol="0"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B952E2D-6498-45E7-A8E3-132689DDCE1E}" type="datetime1">
              <a:rPr lang="pt-BR" noProof="0" smtClean="0"/>
              <a:t>10/05/2026</a:t>
            </a:fld>
            <a:endParaRPr lang="pt-BR" noProof="0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55889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00953FF-B44C-4032-BE08-263E004F48D0}" type="datetime1">
              <a:rPr lang="pt-BR" noProof="0" smtClean="0"/>
              <a:t>10/05/2026</a:t>
            </a:fld>
            <a:endParaRPr lang="pt-BR" noProof="0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0077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A1CED91-10F8-4F28-862B-FD4E3A97170A}" type="datetime1">
              <a:rPr lang="pt-BR" noProof="0" smtClean="0"/>
              <a:t>10/05/2026</a:t>
            </a:fld>
            <a:endParaRPr lang="pt-BR" noProof="0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359989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rtlCol="0"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 rtlCol="0"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rtlCol="0"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9" name="Espaço Reservado para Data 8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CFC77E-2AA3-4152-A54C-74981BE28E55}" type="datetime1">
              <a:rPr lang="pt-BR" noProof="0" smtClean="0"/>
              <a:t>10/05/2026</a:t>
            </a:fld>
            <a:endParaRPr lang="pt-BR" noProof="0" dirty="0"/>
          </a:p>
        </p:txBody>
      </p:sp>
      <p:sp>
        <p:nvSpPr>
          <p:cNvPr id="10" name="Espaço Reservado para Rodapé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 rtlCol="0"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11" name="Espaço Reservado para o Número do Slide 10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205352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rtlCol="0"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rtlCol="0"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rtlCol="0" anchor="t" anchorCtr="1">
            <a:normAutofit/>
          </a:bodyPr>
          <a:lstStyle>
            <a:lvl1pPr marL="0" indent="0" algn="ctr" rtl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pPr rtl="0"/>
            <a:fld id="{8EC681D4-C3A8-4CE6-91AF-0785B228C7CF}" type="datetime1">
              <a:rPr lang="pt-BR" noProof="0" smtClean="0"/>
              <a:t>10/05/2026</a:t>
            </a:fld>
            <a:endParaRPr lang="pt-BR" noProof="0" dirty="0"/>
          </a:p>
        </p:txBody>
      </p:sp>
      <p:sp>
        <p:nvSpPr>
          <p:cNvPr id="9" name="Espaço Reservado para Rodapé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 rtlCol="0"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10" name="Espaço Reservado para o Número do Slide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947789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F190B64-7C24-4AC5-981A-18293759B464}" type="datetime1">
              <a:rPr lang="pt-BR" noProof="0" smtClean="0"/>
              <a:t>10/05/2026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738428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CB21156-01AE-471C-8785-A0104C41415F}" type="datetime1">
              <a:rPr lang="pt-BR" noProof="0" smtClean="0"/>
              <a:t>10/05/2026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22238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 dirty="0"/>
              <a:t>Editar estilos de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rtl="0"/>
            <a:fld id="{CB6EA007-E4DD-442B-86B0-09BBF9FC84DB}" type="datetime1">
              <a:rPr lang="pt-BR" noProof="0" smtClean="0"/>
              <a:t>10/05/2026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pPr rtl="0"/>
            <a:fld id="{6D22F896-40B5-4ADD-8801-0D06FADFA095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865901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me"/>
          <p:cNvSpPr txBox="1"/>
          <p:nvPr/>
        </p:nvSpPr>
        <p:spPr>
          <a:xfrm>
            <a:off x="1524000" y="1600000"/>
            <a:ext cx="9144000" cy="12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pt-BR" sz="4400" b="1" spc="600" dirty="0">
                <a:solidFill>
                  <a:srgbClr val="FFFFFF"/>
                </a:solidFill>
                <a:latin typeface="Georgia"/>
                <a:cs typeface="Georgia"/>
              </a:rPr>
              <a:t>MARCEL LUIZ HENRIQUE</a:t>
            </a:r>
          </a:p>
        </p:txBody>
      </p:sp>
      <p:sp>
        <p:nvSpPr>
          <p:cNvPr id="3" name="Linha Dourada"/>
          <p:cNvSpPr/>
          <p:nvPr/>
        </p:nvSpPr>
        <p:spPr>
          <a:xfrm>
            <a:off x="4572000" y="2900000"/>
            <a:ext cx="3048000" cy="28575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Cargo"/>
          <p:cNvSpPr txBox="1"/>
          <p:nvPr/>
        </p:nvSpPr>
        <p:spPr>
          <a:xfrm>
            <a:off x="1524000" y="3100000"/>
            <a:ext cx="9144000" cy="6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pt-BR" sz="2000" dirty="0">
                <a:solidFill>
                  <a:srgbClr val="C9A84C"/>
                </a:solidFill>
                <a:latin typeface="Calibri"/>
                <a:cs typeface="Calibri"/>
              </a:rPr>
              <a:t>Assessor  |  Banco do Brasil</a:t>
            </a:r>
          </a:p>
        </p:txBody>
      </p:sp>
      <p:sp>
        <p:nvSpPr>
          <p:cNvPr id="5" name="Contato"/>
          <p:cNvSpPr txBox="1"/>
          <p:nvPr/>
        </p:nvSpPr>
        <p:spPr>
          <a:xfrm>
            <a:off x="1524000" y="5400000"/>
            <a:ext cx="9144000" cy="11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1800"/>
              </a:lnSpc>
            </a:pPr>
            <a:r>
              <a:rPr lang="pt-BR" sz="1200" dirty="0">
                <a:solidFill>
                  <a:srgbClr val="B0B0B0"/>
                </a:solidFill>
                <a:latin typeface="Calibri"/>
                <a:cs typeface="Calibri"/>
              </a:rPr>
              <a:t>Brasília – DF</a:t>
            </a:r>
          </a:p>
          <a:p>
            <a:pPr algn="ctr">
              <a:lnSpc>
                <a:spcPts val="1800"/>
              </a:lnSpc>
            </a:pPr>
            <a:r>
              <a:rPr lang="pt-BR" sz="1100" dirty="0">
                <a:solidFill>
                  <a:srgbClr val="8899A6"/>
                </a:solidFill>
                <a:latin typeface="Calibri"/>
                <a:cs typeface="Calibri"/>
              </a:rPr>
              <a:t>marcelluizhenrique@hotmail.com   |   11 91785-5519   |   linkedin.com/in/marcelluizhenrique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inelEsquerdo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A243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AcentoDourado"/>
          <p:cNvSpPr/>
          <p:nvPr/>
        </p:nvSpPr>
        <p:spPr>
          <a:xfrm>
            <a:off x="457200" y="0"/>
            <a:ext cx="4572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Titulo"/>
          <p:cNvSpPr txBox="1"/>
          <p:nvPr/>
        </p:nvSpPr>
        <p:spPr>
          <a:xfrm>
            <a:off x="914400" y="457200"/>
            <a:ext cx="10363200" cy="60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pt-BR" sz="3200" b="1" dirty="0">
                <a:solidFill>
                  <a:srgbClr val="C9A84C"/>
                </a:solidFill>
                <a:latin typeface="Georgia"/>
                <a:cs typeface="Georgia"/>
              </a:rPr>
              <a:t>Sobre Mim</a:t>
            </a:r>
          </a:p>
        </p:txBody>
      </p:sp>
      <p:sp>
        <p:nvSpPr>
          <p:cNvPr id="3" name="Descricao"/>
          <p:cNvSpPr txBox="1"/>
          <p:nvPr/>
        </p:nvSpPr>
        <p:spPr>
          <a:xfrm>
            <a:off x="914400" y="1200000"/>
            <a:ext cx="10363200" cy="11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400"/>
              </a:lnSpc>
            </a:pPr>
            <a:r>
              <a:rPr lang="pt-BR" sz="1500" dirty="0">
                <a:solidFill>
                  <a:srgbClr val="D0D8DD"/>
                </a:solidFill>
                <a:latin typeface="Calibri"/>
                <a:cs typeface="Calibri"/>
              </a:rPr>
              <a:t>Profissional com mais de 17 anos de experiência em operações, atendimento, logística, análise técnica e suporte administrativo. Carreira consolidada no Banco do Brasil, com evolução contínua e sólida em diferentes áreas.</a:t>
            </a:r>
          </a:p>
        </p:txBody>
      </p:sp>
      <p:sp>
        <p:nvSpPr>
          <p:cNvPr id="12" name="CardBg"/>
          <p:cNvSpPr/>
          <p:nvPr/>
        </p:nvSpPr>
        <p:spPr>
          <a:xfrm>
            <a:off x="914400" y="2500000"/>
            <a:ext cx="10363200" cy="2600000"/>
          </a:xfrm>
          <a:prstGeom prst="roundRect">
            <a:avLst>
              <a:gd name="adj" fmla="val 3000"/>
            </a:avLst>
          </a:prstGeom>
          <a:solidFill>
            <a:srgbClr val="0A2430"/>
          </a:solidFill>
          <a:ln w="12700">
            <a:solidFill>
              <a:srgbClr val="1A4F5C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6" name="DestaquesLabel"/>
          <p:cNvSpPr txBox="1"/>
          <p:nvPr/>
        </p:nvSpPr>
        <p:spPr>
          <a:xfrm>
            <a:off x="1143000" y="2650000"/>
            <a:ext cx="9906000" cy="4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pt-BR" sz="1800" b="1" dirty="0">
                <a:solidFill>
                  <a:srgbClr val="C9A84C"/>
                </a:solidFill>
                <a:latin typeface="Georgia"/>
                <a:cs typeface="Georgia"/>
              </a:rPr>
              <a:t>Destaques</a:t>
            </a:r>
          </a:p>
        </p:txBody>
      </p:sp>
      <p:sp>
        <p:nvSpPr>
          <p:cNvPr id="7" name="BulletsEsq"/>
          <p:cNvSpPr txBox="1"/>
          <p:nvPr/>
        </p:nvSpPr>
        <p:spPr>
          <a:xfrm>
            <a:off x="1143000" y="3200000"/>
            <a:ext cx="4800000" cy="28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800"/>
              </a:lnSpc>
              <a:buFont typeface="Wingdings" panose="05000000000000000000" charset="2"/>
              <a:buChar char="§"/>
            </a:pPr>
            <a:r>
              <a:rPr lang="pt-BR" sz="1400" dirty="0">
                <a:solidFill>
                  <a:srgbClr val="E0E5E9"/>
                </a:solidFill>
                <a:latin typeface="Calibri"/>
              </a:rPr>
              <a:t>  Foco em melhoria de processos</a:t>
            </a:r>
          </a:p>
          <a:p>
            <a:pPr algn="l">
              <a:lnSpc>
                <a:spcPts val="2800"/>
              </a:lnSpc>
              <a:buFont typeface="Wingdings" panose="05000000000000000000" charset="2"/>
              <a:buChar char="§"/>
            </a:pPr>
            <a:r>
              <a:rPr lang="pt-BR" sz="1400" dirty="0">
                <a:solidFill>
                  <a:srgbClr val="E0E5E9"/>
                </a:solidFill>
                <a:latin typeface="Calibri"/>
              </a:rPr>
              <a:t>  Forte capacidade analítica</a:t>
            </a:r>
          </a:p>
          <a:p>
            <a:pPr algn="l">
              <a:lnSpc>
                <a:spcPts val="2800"/>
              </a:lnSpc>
              <a:buFont typeface="Wingdings" panose="05000000000000000000" charset="2"/>
              <a:buChar char="§"/>
            </a:pPr>
            <a:r>
              <a:rPr lang="pt-BR" sz="1400" dirty="0">
                <a:solidFill>
                  <a:srgbClr val="E0E5E9"/>
                </a:solidFill>
                <a:latin typeface="Calibri"/>
              </a:rPr>
              <a:t>  Comunicação clara e profissional</a:t>
            </a:r>
          </a:p>
        </p:txBody>
      </p:sp>
      <p:sp>
        <p:nvSpPr>
          <p:cNvPr id="8" name="BulletsDir"/>
          <p:cNvSpPr txBox="1"/>
          <p:nvPr/>
        </p:nvSpPr>
        <p:spPr>
          <a:xfrm>
            <a:off x="6200000" y="3200000"/>
            <a:ext cx="4800000" cy="28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800"/>
              </a:lnSpc>
              <a:buFont typeface="Wingdings" panose="05000000000000000000" charset="2"/>
              <a:buChar char="§"/>
            </a:pPr>
            <a:r>
              <a:rPr lang="pt-BR" sz="1400" dirty="0">
                <a:solidFill>
                  <a:srgbClr val="E0E5E9"/>
                </a:solidFill>
                <a:latin typeface="Calibri"/>
              </a:rPr>
              <a:t>  Experiência híbrida (Brasília e São Paulo)</a:t>
            </a:r>
          </a:p>
          <a:p>
            <a:pPr algn="l">
              <a:lnSpc>
                <a:spcPts val="2800"/>
              </a:lnSpc>
              <a:buFont typeface="Wingdings" panose="05000000000000000000" charset="2"/>
              <a:buChar char="§"/>
            </a:pPr>
            <a:r>
              <a:rPr lang="pt-BR" sz="1400" dirty="0">
                <a:solidFill>
                  <a:srgbClr val="E0E5E9"/>
                </a:solidFill>
                <a:latin typeface="Calibri"/>
              </a:rPr>
              <a:t>  Perfil colaborativo e orientado a resultados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inelEsquerdo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A243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AcentoDourado"/>
          <p:cNvSpPr/>
          <p:nvPr/>
        </p:nvSpPr>
        <p:spPr>
          <a:xfrm>
            <a:off x="457200" y="0"/>
            <a:ext cx="4572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Titulo"/>
          <p:cNvSpPr txBox="1"/>
          <p:nvPr/>
        </p:nvSpPr>
        <p:spPr>
          <a:xfrm>
            <a:off x="914400" y="350000"/>
            <a:ext cx="10363200" cy="55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pt-BR" sz="3200" b="1" dirty="0">
                <a:solidFill>
                  <a:srgbClr val="C9A84C"/>
                </a:solidFill>
                <a:latin typeface="Georgia"/>
                <a:cs typeface="Georgia"/>
              </a:rPr>
              <a:t>Formação Acadêmica</a:t>
            </a:r>
          </a:p>
        </p:txBody>
      </p:sp>
      <p:sp>
        <p:nvSpPr>
          <p:cNvPr id="20" name="Card1Bg"/>
          <p:cNvSpPr/>
          <p:nvPr/>
        </p:nvSpPr>
        <p:spPr>
          <a:xfrm>
            <a:off x="914400" y="1100000"/>
            <a:ext cx="5000000" cy="1200000"/>
          </a:xfrm>
          <a:prstGeom prst="roundRect">
            <a:avLst>
              <a:gd name="adj" fmla="val 5000"/>
            </a:avLst>
          </a:prstGeom>
          <a:solidFill>
            <a:srgbClr val="0A2430"/>
          </a:solidFill>
          <a:ln w="9525">
            <a:solidFill>
              <a:srgbClr val="1A4F5C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" name="Card1Text"/>
          <p:cNvSpPr txBox="1"/>
          <p:nvPr/>
        </p:nvSpPr>
        <p:spPr>
          <a:xfrm>
            <a:off x="1100000" y="1180000"/>
            <a:ext cx="4650000" cy="10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2200"/>
              </a:lnSpc>
            </a:pPr>
            <a:r>
              <a:rPr lang="pt-BR" sz="1400" b="1" dirty="0">
                <a:solidFill>
                  <a:srgbClr val="FFFFFF"/>
                </a:solidFill>
                <a:latin typeface="Calibri"/>
              </a:rPr>
              <a:t>UniCEUB – Centro Universitário de Brasília</a:t>
            </a:r>
          </a:p>
          <a:p>
            <a:pPr algn="l">
              <a:lnSpc>
                <a:spcPts val="2000"/>
              </a:lnSpc>
            </a:pPr>
            <a:r>
              <a:rPr lang="pt-BR" sz="1200" dirty="0">
                <a:solidFill>
                  <a:srgbClr val="D0D8DD"/>
                </a:solidFill>
                <a:latin typeface="Calibri"/>
              </a:rPr>
              <a:t>Análise e Desenvolvimento de Sistemas</a:t>
            </a:r>
          </a:p>
          <a:p>
            <a:pPr algn="l">
              <a:lnSpc>
                <a:spcPts val="2000"/>
              </a:lnSpc>
            </a:pPr>
            <a:r>
              <a:rPr lang="pt-BR" sz="1100" dirty="0">
                <a:solidFill>
                  <a:srgbClr val="C9A84C"/>
                </a:solidFill>
                <a:latin typeface="Calibri"/>
              </a:rPr>
              <a:t>2026 – 2028</a:t>
            </a:r>
          </a:p>
        </p:txBody>
      </p:sp>
      <p:sp>
        <p:nvSpPr>
          <p:cNvPr id="22" name="Card2Bg"/>
          <p:cNvSpPr/>
          <p:nvPr/>
        </p:nvSpPr>
        <p:spPr>
          <a:xfrm>
            <a:off x="6200000" y="1100000"/>
            <a:ext cx="5000000" cy="1200000"/>
          </a:xfrm>
          <a:prstGeom prst="roundRect">
            <a:avLst>
              <a:gd name="adj" fmla="val 5000"/>
            </a:avLst>
          </a:prstGeom>
          <a:solidFill>
            <a:srgbClr val="0A2430"/>
          </a:solidFill>
          <a:ln w="9525">
            <a:solidFill>
              <a:srgbClr val="1A4F5C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3" name="Card2Text"/>
          <p:cNvSpPr txBox="1"/>
          <p:nvPr/>
        </p:nvSpPr>
        <p:spPr>
          <a:xfrm>
            <a:off x="6386000" y="1180000"/>
            <a:ext cx="4650000" cy="10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2200"/>
              </a:lnSpc>
            </a:pPr>
            <a:r>
              <a:rPr lang="pt-BR" sz="1400" b="1" dirty="0">
                <a:solidFill>
                  <a:srgbClr val="FFFFFF"/>
                </a:solidFill>
                <a:latin typeface="Calibri"/>
              </a:rPr>
              <a:t>PUC Minas</a:t>
            </a:r>
          </a:p>
          <a:p>
            <a:pPr algn="l">
              <a:lnSpc>
                <a:spcPts val="2000"/>
              </a:lnSpc>
            </a:pPr>
            <a:r>
              <a:rPr lang="pt-BR" sz="1200" dirty="0">
                <a:solidFill>
                  <a:srgbClr val="D0D8DD"/>
                </a:solidFill>
                <a:latin typeface="Calibri"/>
              </a:rPr>
              <a:t>Analytics e Business Intelligence</a:t>
            </a:r>
          </a:p>
          <a:p>
            <a:pPr algn="l">
              <a:lnSpc>
                <a:spcPts val="2000"/>
              </a:lnSpc>
            </a:pPr>
            <a:r>
              <a:rPr lang="pt-BR" sz="1100" dirty="0">
                <a:solidFill>
                  <a:srgbClr val="C9A84C"/>
                </a:solidFill>
                <a:latin typeface="Calibri"/>
              </a:rPr>
              <a:t>2022 – 2023</a:t>
            </a:r>
          </a:p>
        </p:txBody>
      </p:sp>
      <p:sp>
        <p:nvSpPr>
          <p:cNvPr id="24" name="Card3Bg"/>
          <p:cNvSpPr/>
          <p:nvPr/>
        </p:nvSpPr>
        <p:spPr>
          <a:xfrm>
            <a:off x="914400" y="2550000"/>
            <a:ext cx="5000000" cy="1200000"/>
          </a:xfrm>
          <a:prstGeom prst="roundRect">
            <a:avLst>
              <a:gd name="adj" fmla="val 5000"/>
            </a:avLst>
          </a:prstGeom>
          <a:solidFill>
            <a:srgbClr val="0A2430"/>
          </a:solidFill>
          <a:ln w="9525">
            <a:solidFill>
              <a:srgbClr val="1A4F5C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5" name="Card3Text"/>
          <p:cNvSpPr txBox="1"/>
          <p:nvPr/>
        </p:nvSpPr>
        <p:spPr>
          <a:xfrm>
            <a:off x="1100000" y="2630000"/>
            <a:ext cx="4650000" cy="10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2200"/>
              </a:lnSpc>
            </a:pPr>
            <a:r>
              <a:rPr lang="pt-BR" sz="1400" b="1" dirty="0">
                <a:solidFill>
                  <a:srgbClr val="FFFFFF"/>
                </a:solidFill>
                <a:latin typeface="Calibri"/>
              </a:rPr>
              <a:t>Anhanguera Educacional</a:t>
            </a:r>
          </a:p>
          <a:p>
            <a:pPr algn="l">
              <a:lnSpc>
                <a:spcPts val="2000"/>
              </a:lnSpc>
            </a:pPr>
            <a:r>
              <a:rPr lang="pt-BR" sz="1200" dirty="0">
                <a:solidFill>
                  <a:srgbClr val="D0D8DD"/>
                </a:solidFill>
                <a:latin typeface="Calibri"/>
              </a:rPr>
              <a:t>Pós-Graduação em Gestão Estratégica de Negócios</a:t>
            </a:r>
          </a:p>
          <a:p>
            <a:pPr algn="l">
              <a:lnSpc>
                <a:spcPts val="2000"/>
              </a:lnSpc>
            </a:pPr>
            <a:r>
              <a:rPr lang="pt-BR" sz="1100" dirty="0">
                <a:solidFill>
                  <a:srgbClr val="C9A84C"/>
                </a:solidFill>
                <a:latin typeface="Calibri"/>
              </a:rPr>
              <a:t>2015 – 2016</a:t>
            </a:r>
          </a:p>
        </p:txBody>
      </p:sp>
      <p:sp>
        <p:nvSpPr>
          <p:cNvPr id="26" name="Card4Bg"/>
          <p:cNvSpPr/>
          <p:nvPr/>
        </p:nvSpPr>
        <p:spPr>
          <a:xfrm>
            <a:off x="6200000" y="2550000"/>
            <a:ext cx="5000000" cy="1200000"/>
          </a:xfrm>
          <a:prstGeom prst="roundRect">
            <a:avLst>
              <a:gd name="adj" fmla="val 5000"/>
            </a:avLst>
          </a:prstGeom>
          <a:solidFill>
            <a:srgbClr val="0A2430"/>
          </a:solidFill>
          <a:ln w="9525">
            <a:solidFill>
              <a:srgbClr val="1A4F5C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7" name="Card4Text"/>
          <p:cNvSpPr txBox="1"/>
          <p:nvPr/>
        </p:nvSpPr>
        <p:spPr>
          <a:xfrm>
            <a:off x="6386000" y="2630000"/>
            <a:ext cx="4650000" cy="10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2200"/>
              </a:lnSpc>
            </a:pPr>
            <a:r>
              <a:rPr lang="pt-BR" sz="1400" b="1" dirty="0">
                <a:solidFill>
                  <a:srgbClr val="FFFFFF"/>
                </a:solidFill>
                <a:latin typeface="Calibri"/>
              </a:rPr>
              <a:t>Universidade do Vale do Paraíba – UNIVAP</a:t>
            </a:r>
          </a:p>
          <a:p>
            <a:pPr algn="l">
              <a:lnSpc>
                <a:spcPts val="2000"/>
              </a:lnSpc>
            </a:pPr>
            <a:r>
              <a:rPr lang="pt-BR" sz="1200" dirty="0">
                <a:solidFill>
                  <a:srgbClr val="D0D8DD"/>
                </a:solidFill>
                <a:latin typeface="Calibri"/>
              </a:rPr>
              <a:t>Bacharelado em Administração</a:t>
            </a:r>
          </a:p>
          <a:p>
            <a:pPr algn="l">
              <a:lnSpc>
                <a:spcPts val="2000"/>
              </a:lnSpc>
            </a:pPr>
            <a:r>
              <a:rPr lang="pt-BR" sz="1100" dirty="0">
                <a:solidFill>
                  <a:srgbClr val="C9A84C"/>
                </a:solidFill>
                <a:latin typeface="Calibri"/>
              </a:rPr>
              <a:t>2007 – 2010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inelEsquerdo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A243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AcentoDourado"/>
          <p:cNvSpPr/>
          <p:nvPr/>
        </p:nvSpPr>
        <p:spPr>
          <a:xfrm>
            <a:off x="457200" y="0"/>
            <a:ext cx="4572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Titulo"/>
          <p:cNvSpPr txBox="1"/>
          <p:nvPr/>
        </p:nvSpPr>
        <p:spPr>
          <a:xfrm>
            <a:off x="914400" y="250000"/>
            <a:ext cx="10363200" cy="55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pt-BR" sz="3200" b="1" dirty="0">
                <a:solidFill>
                  <a:srgbClr val="C9A84C"/>
                </a:solidFill>
                <a:latin typeface="Georgia"/>
                <a:cs typeface="Georgia"/>
              </a:rPr>
              <a:t>Experiências Profissionais</a:t>
            </a:r>
          </a:p>
        </p:txBody>
      </p:sp>
      <p:sp>
        <p:nvSpPr>
          <p:cNvPr id="30" name="BB_Header"/>
          <p:cNvSpPr txBox="1"/>
          <p:nvPr/>
        </p:nvSpPr>
        <p:spPr>
          <a:xfrm>
            <a:off x="914400" y="1000000"/>
            <a:ext cx="5300000" cy="40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pt-BR" sz="1800" b="1" dirty="0">
                <a:solidFill>
                  <a:srgbClr val="FFFFFF"/>
                </a:solidFill>
                <a:latin typeface="Georgia"/>
              </a:rPr>
              <a:t>Banco do Brasil</a:t>
            </a:r>
          </a:p>
        </p:txBody>
      </p:sp>
      <p:sp>
        <p:nvSpPr>
          <p:cNvPr id="31" name="BB_Items"/>
          <p:cNvSpPr txBox="1"/>
          <p:nvPr/>
        </p:nvSpPr>
        <p:spPr>
          <a:xfrm>
            <a:off x="914400" y="1450000"/>
            <a:ext cx="5300000" cy="30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400"/>
              </a:lnSpc>
            </a:pPr>
            <a:r>
              <a:rPr lang="pt-BR" sz="1300" b="1" dirty="0">
                <a:solidFill>
                  <a:srgbClr val="C9A84C"/>
                </a:solidFill>
                <a:latin typeface="Calibri"/>
              </a:rPr>
              <a:t>2025 – Atual</a:t>
            </a:r>
            <a:r>
              <a:rPr lang="pt-BR" sz="1300" dirty="0">
                <a:solidFill>
                  <a:srgbClr val="D0D8DD"/>
                </a:solidFill>
                <a:latin typeface="Calibri"/>
              </a:rPr>
              <a:t>    Assessor</a:t>
            </a:r>
          </a:p>
          <a:p>
            <a:pPr algn="l">
              <a:lnSpc>
                <a:spcPts val="2400"/>
              </a:lnSpc>
            </a:pPr>
            <a:r>
              <a:rPr lang="pt-BR" sz="1300" b="1" dirty="0">
                <a:solidFill>
                  <a:srgbClr val="C9A84C"/>
                </a:solidFill>
                <a:latin typeface="Calibri"/>
              </a:rPr>
              <a:t>2023 – 2025</a:t>
            </a:r>
            <a:r>
              <a:rPr lang="pt-BR" sz="1300" dirty="0">
                <a:solidFill>
                  <a:srgbClr val="D0D8DD"/>
                </a:solidFill>
                <a:latin typeface="Calibri"/>
              </a:rPr>
              <a:t>    Analista Técnico Júnior</a:t>
            </a:r>
          </a:p>
          <a:p>
            <a:pPr algn="l">
              <a:lnSpc>
                <a:spcPts val="2400"/>
              </a:lnSpc>
            </a:pPr>
            <a:r>
              <a:rPr lang="pt-BR" sz="1300" b="1" dirty="0">
                <a:solidFill>
                  <a:srgbClr val="C9A84C"/>
                </a:solidFill>
                <a:latin typeface="Calibri"/>
              </a:rPr>
              <a:t>2019 – 2023</a:t>
            </a:r>
            <a:r>
              <a:rPr lang="pt-BR" sz="1300" dirty="0">
                <a:solidFill>
                  <a:srgbClr val="D0D8DD"/>
                </a:solidFill>
                <a:latin typeface="Calibri"/>
              </a:rPr>
              <a:t>    Assistente Operacional Pleno</a:t>
            </a:r>
          </a:p>
          <a:p>
            <a:pPr algn="l">
              <a:lnSpc>
                <a:spcPts val="2400"/>
              </a:lnSpc>
            </a:pPr>
            <a:r>
              <a:rPr lang="pt-BR" sz="1300" b="1" dirty="0">
                <a:solidFill>
                  <a:srgbClr val="C9A84C"/>
                </a:solidFill>
                <a:latin typeface="Calibri"/>
              </a:rPr>
              <a:t>2018 – 2019</a:t>
            </a:r>
            <a:r>
              <a:rPr lang="pt-BR" sz="1300" dirty="0">
                <a:solidFill>
                  <a:srgbClr val="D0D8DD"/>
                </a:solidFill>
                <a:latin typeface="Calibri"/>
              </a:rPr>
              <a:t>    Atendente SAC</a:t>
            </a:r>
          </a:p>
          <a:p>
            <a:pPr algn="l">
              <a:lnSpc>
                <a:spcPts val="2400"/>
              </a:lnSpc>
            </a:pPr>
            <a:r>
              <a:rPr lang="pt-BR" sz="1300" b="1" dirty="0">
                <a:solidFill>
                  <a:srgbClr val="C9A84C"/>
                </a:solidFill>
                <a:latin typeface="Calibri"/>
              </a:rPr>
              <a:t>2014 – 2018</a:t>
            </a:r>
            <a:r>
              <a:rPr lang="pt-BR" sz="1300" dirty="0">
                <a:solidFill>
                  <a:srgbClr val="D0D8DD"/>
                </a:solidFill>
                <a:latin typeface="Calibri"/>
              </a:rPr>
              <a:t>    Escriturário</a:t>
            </a:r>
          </a:p>
        </p:txBody>
      </p:sp>
      <p:sp>
        <p:nvSpPr>
          <p:cNvPr id="40" name="TimelineBB"/>
          <p:cNvSpPr/>
          <p:nvPr/>
        </p:nvSpPr>
        <p:spPr>
          <a:xfrm flipH="1">
            <a:off x="742799" y="1200000"/>
            <a:ext cx="45719" cy="3450000"/>
          </a:xfrm>
          <a:prstGeom prst="rect">
            <a:avLst/>
          </a:prstGeom>
          <a:solidFill>
            <a:srgbClr val="1A4F5C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" name="Other_Header"/>
          <p:cNvSpPr txBox="1"/>
          <p:nvPr/>
        </p:nvSpPr>
        <p:spPr>
          <a:xfrm>
            <a:off x="6500000" y="1000000"/>
            <a:ext cx="5000000" cy="40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pt-BR" sz="1800" b="1" dirty="0">
                <a:solidFill>
                  <a:srgbClr val="FFFFFF"/>
                </a:solidFill>
                <a:latin typeface="Georgia"/>
              </a:rPr>
              <a:t>Outras Empresas</a:t>
            </a:r>
          </a:p>
        </p:txBody>
      </p:sp>
      <p:sp>
        <p:nvSpPr>
          <p:cNvPr id="33" name="Other_Items"/>
          <p:cNvSpPr txBox="1"/>
          <p:nvPr/>
        </p:nvSpPr>
        <p:spPr>
          <a:xfrm>
            <a:off x="6500000" y="1450000"/>
            <a:ext cx="5000000" cy="3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00"/>
              </a:lnSpc>
            </a:pPr>
            <a:r>
              <a:rPr lang="pt-BR" sz="1300" b="1" dirty="0">
                <a:solidFill>
                  <a:srgbClr val="FFFFFF"/>
                </a:solidFill>
                <a:latin typeface="Calibri"/>
              </a:rPr>
              <a:t>B2W – Companhia Global do Varejo</a:t>
            </a:r>
          </a:p>
          <a:p>
            <a:pPr algn="l">
              <a:lnSpc>
                <a:spcPts val="2200"/>
              </a:lnSpc>
            </a:pPr>
            <a:r>
              <a:rPr lang="pt-BR" sz="1200" dirty="0">
                <a:solidFill>
                  <a:srgbClr val="C9A84C"/>
                </a:solidFill>
                <a:latin typeface="Calibri"/>
              </a:rPr>
              <a:t>2012 – 2014</a:t>
            </a:r>
            <a:r>
              <a:rPr lang="pt-BR" sz="1200" dirty="0">
                <a:solidFill>
                  <a:srgbClr val="D0D8DD"/>
                </a:solidFill>
                <a:latin typeface="Calibri"/>
              </a:rPr>
              <a:t>  Analista de Logística</a:t>
            </a:r>
          </a:p>
          <a:p>
            <a:pPr algn="l">
              <a:lnSpc>
                <a:spcPts val="2800"/>
              </a:lnSpc>
            </a:pPr>
            <a:r>
              <a:rPr lang="pt-BR" sz="1300" b="1" dirty="0">
                <a:solidFill>
                  <a:srgbClr val="FFFFFF"/>
                </a:solidFill>
                <a:latin typeface="Calibri"/>
              </a:rPr>
              <a:t>Viaplan</a:t>
            </a:r>
          </a:p>
          <a:p>
            <a:pPr algn="l">
              <a:lnSpc>
                <a:spcPts val="2200"/>
              </a:lnSpc>
            </a:pPr>
            <a:r>
              <a:rPr lang="pt-BR" sz="1200" dirty="0">
                <a:solidFill>
                  <a:srgbClr val="C9A84C"/>
                </a:solidFill>
                <a:latin typeface="Calibri"/>
              </a:rPr>
              <a:t>2008 – 2012</a:t>
            </a:r>
            <a:r>
              <a:rPr lang="pt-BR" sz="1200" dirty="0">
                <a:solidFill>
                  <a:srgbClr val="D0D8DD"/>
                </a:solidFill>
                <a:latin typeface="Calibri"/>
              </a:rPr>
              <a:t>  Encarregado de Logística</a:t>
            </a:r>
          </a:p>
          <a:p>
            <a:pPr algn="l">
              <a:lnSpc>
                <a:spcPts val="2800"/>
              </a:lnSpc>
            </a:pPr>
            <a:r>
              <a:rPr lang="pt-BR" sz="1300" b="1" dirty="0">
                <a:solidFill>
                  <a:srgbClr val="FFFFFF"/>
                </a:solidFill>
                <a:latin typeface="Calibri"/>
              </a:rPr>
              <a:t>Prefeitura de São José dos Campos</a:t>
            </a:r>
          </a:p>
          <a:p>
            <a:pPr algn="l">
              <a:lnSpc>
                <a:spcPts val="2200"/>
              </a:lnSpc>
            </a:pPr>
            <a:r>
              <a:rPr lang="pt-BR" sz="1200" dirty="0">
                <a:solidFill>
                  <a:srgbClr val="C9A84C"/>
                </a:solidFill>
                <a:latin typeface="Calibri"/>
              </a:rPr>
              <a:t>2007 – 2008</a:t>
            </a:r>
            <a:r>
              <a:rPr lang="pt-BR" sz="1200" dirty="0">
                <a:solidFill>
                  <a:srgbClr val="D0D8DD"/>
                </a:solidFill>
                <a:latin typeface="Calibri"/>
              </a:rPr>
              <a:t>  Estagiário de Administração</a:t>
            </a:r>
          </a:p>
          <a:p>
            <a:pPr algn="l">
              <a:lnSpc>
                <a:spcPts val="2800"/>
              </a:lnSpc>
            </a:pPr>
            <a:r>
              <a:rPr lang="pt-BR" sz="1300" b="1" dirty="0">
                <a:solidFill>
                  <a:srgbClr val="FFFFFF"/>
                </a:solidFill>
                <a:latin typeface="Calibri"/>
              </a:rPr>
              <a:t>Atento Brasil</a:t>
            </a:r>
          </a:p>
          <a:p>
            <a:pPr algn="l">
              <a:lnSpc>
                <a:spcPts val="2200"/>
              </a:lnSpc>
            </a:pPr>
            <a:r>
              <a:rPr lang="pt-BR" sz="1200" dirty="0">
                <a:solidFill>
                  <a:srgbClr val="C9A84C"/>
                </a:solidFill>
                <a:latin typeface="Calibri"/>
              </a:rPr>
              <a:t>2007</a:t>
            </a:r>
            <a:r>
              <a:rPr lang="pt-BR" sz="1200" dirty="0">
                <a:solidFill>
                  <a:srgbClr val="D0D8DD"/>
                </a:solidFill>
                <a:latin typeface="Calibri"/>
              </a:rPr>
              <a:t>  Operador Técnico</a:t>
            </a:r>
          </a:p>
        </p:txBody>
      </p:sp>
      <p:sp>
        <p:nvSpPr>
          <p:cNvPr id="41" name="Divider"/>
          <p:cNvSpPr/>
          <p:nvPr/>
        </p:nvSpPr>
        <p:spPr>
          <a:xfrm>
            <a:off x="6250000" y="1050000"/>
            <a:ext cx="18000" cy="3600000"/>
          </a:xfrm>
          <a:prstGeom prst="rect">
            <a:avLst/>
          </a:prstGeom>
          <a:solidFill>
            <a:srgbClr val="1A4F5C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inelEsquerdo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A243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AcentoDourado"/>
          <p:cNvSpPr/>
          <p:nvPr/>
        </p:nvSpPr>
        <p:spPr>
          <a:xfrm>
            <a:off x="457200" y="0"/>
            <a:ext cx="4572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Titulo"/>
          <p:cNvSpPr txBox="1"/>
          <p:nvPr/>
        </p:nvSpPr>
        <p:spPr>
          <a:xfrm>
            <a:off x="914400" y="250000"/>
            <a:ext cx="10363200" cy="55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pt-BR" sz="3200" b="1" dirty="0">
                <a:solidFill>
                  <a:srgbClr val="C9A84C"/>
                </a:solidFill>
                <a:latin typeface="Georgia"/>
                <a:cs typeface="Georgia"/>
              </a:rPr>
              <a:t>Outras Informações</a:t>
            </a:r>
          </a:p>
        </p:txBody>
      </p:sp>
      <p:sp>
        <p:nvSpPr>
          <p:cNvPr id="50" name="CertLabel"/>
          <p:cNvSpPr txBox="1"/>
          <p:nvPr/>
        </p:nvSpPr>
        <p:spPr>
          <a:xfrm>
            <a:off x="914400" y="1050000"/>
            <a:ext cx="5000000" cy="35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pt-BR" sz="1600" b="1" dirty="0">
                <a:solidFill>
                  <a:srgbClr val="FFFFFF"/>
                </a:solidFill>
                <a:latin typeface="Georgia"/>
              </a:rPr>
              <a:t>Certificações</a:t>
            </a:r>
          </a:p>
        </p:txBody>
      </p:sp>
      <p:sp>
        <p:nvSpPr>
          <p:cNvPr id="51" name="CertItems"/>
          <p:cNvSpPr txBox="1"/>
          <p:nvPr/>
        </p:nvSpPr>
        <p:spPr>
          <a:xfrm>
            <a:off x="914400" y="1450000"/>
            <a:ext cx="5000000" cy="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00"/>
              </a:lnSpc>
              <a:buFont typeface="Wingdings" panose="05000000000000000000" charset="2"/>
              <a:buChar char="§"/>
            </a:pPr>
            <a:r>
              <a:rPr lang="pt-BR" sz="1200" dirty="0">
                <a:solidFill>
                  <a:srgbClr val="D0D8DD"/>
                </a:solidFill>
                <a:latin typeface="Calibri"/>
              </a:rPr>
              <a:t>  Lean Six Sigma Yellow Belt – FM2S (2024)</a:t>
            </a:r>
          </a:p>
          <a:p>
            <a:pPr algn="l">
              <a:lnSpc>
                <a:spcPts val="2200"/>
              </a:lnSpc>
              <a:buFont typeface="Wingdings" panose="05000000000000000000" charset="2"/>
              <a:buChar char="§"/>
            </a:pPr>
            <a:r>
              <a:rPr lang="pt-BR" sz="1200" dirty="0">
                <a:solidFill>
                  <a:srgbClr val="D0D8DD"/>
                </a:solidFill>
                <a:latin typeface="Calibri"/>
              </a:rPr>
              <a:t>  CPA 10 – ANBIMA</a:t>
            </a:r>
          </a:p>
        </p:txBody>
      </p:sp>
      <p:sp>
        <p:nvSpPr>
          <p:cNvPr id="52" name="CompLabel"/>
          <p:cNvSpPr txBox="1"/>
          <p:nvPr/>
        </p:nvSpPr>
        <p:spPr>
          <a:xfrm>
            <a:off x="914400" y="2350000"/>
            <a:ext cx="5000000" cy="35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pt-BR" sz="1600" b="1" dirty="0">
                <a:solidFill>
                  <a:srgbClr val="FFFFFF"/>
                </a:solidFill>
                <a:latin typeface="Georgia"/>
              </a:rPr>
              <a:t>Competências</a:t>
            </a:r>
          </a:p>
        </p:txBody>
      </p:sp>
      <p:sp>
        <p:nvSpPr>
          <p:cNvPr id="53" name="CompItemsLeft"/>
          <p:cNvSpPr txBox="1"/>
          <p:nvPr/>
        </p:nvSpPr>
        <p:spPr>
          <a:xfrm>
            <a:off x="914400" y="2750000"/>
            <a:ext cx="2500000" cy="2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00"/>
              </a:lnSpc>
              <a:buFont typeface="Wingdings" panose="05000000000000000000" charset="2"/>
              <a:buChar char="§"/>
            </a:pPr>
            <a:r>
              <a:rPr lang="pt-BR" sz="1200" dirty="0">
                <a:solidFill>
                  <a:srgbClr val="D0D8DD"/>
                </a:solidFill>
                <a:latin typeface="Calibri"/>
              </a:rPr>
              <a:t>  Excel avançado</a:t>
            </a:r>
          </a:p>
          <a:p>
            <a:pPr algn="l">
              <a:lnSpc>
                <a:spcPts val="2200"/>
              </a:lnSpc>
              <a:buFont typeface="Wingdings" panose="05000000000000000000" charset="2"/>
              <a:buChar char="§"/>
            </a:pPr>
            <a:r>
              <a:rPr lang="pt-BR" sz="1200" dirty="0">
                <a:solidFill>
                  <a:srgbClr val="D0D8DD"/>
                </a:solidFill>
                <a:latin typeface="Calibri"/>
              </a:rPr>
              <a:t>  Logística</a:t>
            </a:r>
          </a:p>
          <a:p>
            <a:pPr algn="l">
              <a:lnSpc>
                <a:spcPts val="2200"/>
              </a:lnSpc>
              <a:buFont typeface="Wingdings" panose="05000000000000000000" charset="2"/>
              <a:buChar char="§"/>
            </a:pPr>
            <a:r>
              <a:rPr lang="pt-BR" sz="1200" dirty="0">
                <a:solidFill>
                  <a:srgbClr val="D0D8DD"/>
                </a:solidFill>
                <a:latin typeface="Calibri"/>
              </a:rPr>
              <a:t>  Atendimento ao cliente</a:t>
            </a:r>
          </a:p>
          <a:p>
            <a:pPr algn="l">
              <a:lnSpc>
                <a:spcPts val="2200"/>
              </a:lnSpc>
              <a:buFont typeface="Wingdings" panose="05000000000000000000" charset="2"/>
              <a:buChar char="§"/>
            </a:pPr>
            <a:r>
              <a:rPr lang="pt-BR" sz="1200" dirty="0">
                <a:solidFill>
                  <a:srgbClr val="D0D8DD"/>
                </a:solidFill>
                <a:latin typeface="Calibri"/>
              </a:rPr>
              <a:t>  Análise de dados</a:t>
            </a:r>
          </a:p>
        </p:txBody>
      </p:sp>
      <p:sp>
        <p:nvSpPr>
          <p:cNvPr id="54" name="CompItemsRight"/>
          <p:cNvSpPr txBox="1"/>
          <p:nvPr/>
        </p:nvSpPr>
        <p:spPr>
          <a:xfrm>
            <a:off x="3500000" y="2750000"/>
            <a:ext cx="2500000" cy="2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00"/>
              </a:lnSpc>
              <a:buFont typeface="Wingdings" panose="05000000000000000000" charset="2"/>
              <a:buChar char="§"/>
            </a:pPr>
            <a:r>
              <a:rPr lang="pt-BR" sz="1200" dirty="0">
                <a:solidFill>
                  <a:srgbClr val="D0D8DD"/>
                </a:solidFill>
                <a:latin typeface="Calibri"/>
              </a:rPr>
              <a:t>  Processos administrativos</a:t>
            </a:r>
          </a:p>
          <a:p>
            <a:pPr algn="l">
              <a:lnSpc>
                <a:spcPts val="2200"/>
              </a:lnSpc>
              <a:buFont typeface="Wingdings" panose="05000000000000000000" charset="2"/>
              <a:buChar char="§"/>
            </a:pPr>
            <a:r>
              <a:rPr lang="pt-BR" sz="1200" dirty="0">
                <a:solidFill>
                  <a:srgbClr val="D0D8DD"/>
                </a:solidFill>
                <a:latin typeface="Calibri"/>
              </a:rPr>
              <a:t>  Suporte técnico</a:t>
            </a:r>
          </a:p>
          <a:p>
            <a:pPr algn="l">
              <a:lnSpc>
                <a:spcPts val="2200"/>
              </a:lnSpc>
              <a:buFont typeface="Wingdings" panose="05000000000000000000" charset="2"/>
              <a:buChar char="§"/>
            </a:pPr>
            <a:r>
              <a:rPr lang="pt-BR" sz="1200" dirty="0">
                <a:solidFill>
                  <a:srgbClr val="D0D8DD"/>
                </a:solidFill>
                <a:latin typeface="Calibri"/>
              </a:rPr>
              <a:t>  Negociação</a:t>
            </a:r>
          </a:p>
        </p:txBody>
      </p:sp>
      <p:sp>
        <p:nvSpPr>
          <p:cNvPr id="55" name="IdiomasLabel"/>
          <p:cNvSpPr txBox="1"/>
          <p:nvPr/>
        </p:nvSpPr>
        <p:spPr>
          <a:xfrm>
            <a:off x="6500000" y="1050000"/>
            <a:ext cx="5000000" cy="35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pt-BR" sz="1600" b="1" dirty="0">
                <a:solidFill>
                  <a:srgbClr val="FFFFFF"/>
                </a:solidFill>
                <a:latin typeface="Georgia"/>
              </a:rPr>
              <a:t>Idiomas</a:t>
            </a:r>
          </a:p>
        </p:txBody>
      </p:sp>
      <p:sp>
        <p:nvSpPr>
          <p:cNvPr id="56" name="IdiomasItems"/>
          <p:cNvSpPr txBox="1"/>
          <p:nvPr/>
        </p:nvSpPr>
        <p:spPr>
          <a:xfrm>
            <a:off x="6500000" y="1450000"/>
            <a:ext cx="5000000" cy="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00"/>
              </a:lnSpc>
              <a:buFont typeface="Wingdings" panose="05000000000000000000" charset="2"/>
              <a:buChar char="§"/>
            </a:pPr>
            <a:r>
              <a:rPr lang="pt-BR" sz="1200" dirty="0">
                <a:solidFill>
                  <a:srgbClr val="D0D8DD"/>
                </a:solidFill>
                <a:latin typeface="Calibri"/>
              </a:rPr>
              <a:t>  Português – Fluente</a:t>
            </a:r>
          </a:p>
          <a:p>
            <a:pPr algn="l">
              <a:lnSpc>
                <a:spcPts val="2200"/>
              </a:lnSpc>
              <a:buFont typeface="Wingdings" panose="05000000000000000000" charset="2"/>
              <a:buChar char="§"/>
            </a:pPr>
            <a:r>
              <a:rPr lang="pt-BR" sz="1200" dirty="0">
                <a:solidFill>
                  <a:srgbClr val="D0D8DD"/>
                </a:solidFill>
                <a:latin typeface="Calibri"/>
              </a:rPr>
              <a:t>  Inglês – Intermediário</a:t>
            </a:r>
          </a:p>
        </p:txBody>
      </p:sp>
      <p:sp>
        <p:nvSpPr>
          <p:cNvPr id="57" name="PubLabel"/>
          <p:cNvSpPr txBox="1"/>
          <p:nvPr/>
        </p:nvSpPr>
        <p:spPr>
          <a:xfrm>
            <a:off x="6500000" y="2350000"/>
            <a:ext cx="5000000" cy="35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pt-BR" sz="1600" b="1" dirty="0">
                <a:solidFill>
                  <a:srgbClr val="FFFFFF"/>
                </a:solidFill>
                <a:latin typeface="Georgia"/>
              </a:rPr>
              <a:t>Publicação</a:t>
            </a:r>
          </a:p>
        </p:txBody>
      </p:sp>
      <p:sp>
        <p:nvSpPr>
          <p:cNvPr id="58" name="PubItem"/>
          <p:cNvSpPr txBox="1"/>
          <p:nvPr/>
        </p:nvSpPr>
        <p:spPr>
          <a:xfrm>
            <a:off x="6500000" y="2750000"/>
            <a:ext cx="5000000" cy="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000"/>
              </a:lnSpc>
            </a:pPr>
            <a:r>
              <a:rPr lang="pt-BR" sz="1200" i="1" dirty="0">
                <a:solidFill>
                  <a:srgbClr val="D0D8DD"/>
                </a:solidFill>
                <a:latin typeface="Calibri"/>
              </a:rPr>
              <a:t>A Administração Clássica em um Ambiente de Call Center</a:t>
            </a:r>
          </a:p>
          <a:p>
            <a:pPr algn="l">
              <a:lnSpc>
                <a:spcPts val="2000"/>
              </a:lnSpc>
            </a:pPr>
            <a:r>
              <a:rPr lang="pt-BR" sz="1100" dirty="0">
                <a:solidFill>
                  <a:srgbClr val="C9A84C"/>
                </a:solidFill>
                <a:latin typeface="Calibri"/>
              </a:rPr>
              <a:t>INIC 2008</a:t>
            </a:r>
          </a:p>
        </p:txBody>
      </p:sp>
      <p:sp>
        <p:nvSpPr>
          <p:cNvPr id="60" name="Divider"/>
          <p:cNvSpPr/>
          <p:nvPr/>
        </p:nvSpPr>
        <p:spPr>
          <a:xfrm>
            <a:off x="6250000" y="1050000"/>
            <a:ext cx="18000" cy="3000000"/>
          </a:xfrm>
          <a:prstGeom prst="rect">
            <a:avLst/>
          </a:prstGeom>
          <a:solidFill>
            <a:srgbClr val="1A4F5C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cote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2736BCB-6CE4-414B-B2BE-1DA087E521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E17AD15-0DEB-4851-82A2-261C041346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0ED59B-F67D-4B99-A0A7-E5237FF5810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Design financeiro</Template>
  <TotalTime>14</TotalTime>
  <Words>282</Words>
  <Application>Microsoft Office PowerPoint</Application>
  <PresentationFormat>Widescreen</PresentationFormat>
  <Paragraphs>64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Arial</vt:lpstr>
      <vt:lpstr>Calibri</vt:lpstr>
      <vt:lpstr>Georgia</vt:lpstr>
      <vt:lpstr>Gill Sans MT</vt:lpstr>
      <vt:lpstr>Wingdings</vt:lpstr>
      <vt:lpstr>Pacote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 Luiz Henrique</dc:creator>
  <cp:lastModifiedBy>Marcel Luiz Henrique</cp:lastModifiedBy>
  <cp:revision>2</cp:revision>
  <dcterms:created xsi:type="dcterms:W3CDTF">2026-05-10T15:10:24Z</dcterms:created>
  <dcterms:modified xsi:type="dcterms:W3CDTF">2026-05-10T15:24:35Z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